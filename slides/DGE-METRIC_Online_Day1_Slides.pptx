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05408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 i="0">
                <a:solidFill>
                  <a:srgbClr val="232323"/>
                </a:solidFill>
                <a:latin typeface="Calibri"/>
              </a:rPr>
              <a:t>DGE-METRIC Online Training</a:t>
            </a:r>
          </a:p>
          <a:p>
            <a:r>
              <a:rPr sz="2200" b="0" i="0">
                <a:solidFill>
                  <a:srgbClr val="CC071E"/>
                </a:solidFill>
                <a:latin typeface="Calibri"/>
              </a:rPr>
              <a:t>Online Day 1 — Finance &amp; Energy-Efficiency Scenarios: Detailed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709160"/>
            <a:ext cx="3840480" cy="381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Wednesday 22 July 2026 · Afternoon · 180 minutes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GIZ Vietnam | DGE-METRIC Program | Online Module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Continues numbering from the on-site training — this is Training Day 3, delivered online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Today's Agenda — 8 Blocks, 180 Minutes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0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1. Setup check-in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Confirm VS Code, GitHub, and an AI coding assistant are installed/enabled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2. Welcome &amp; where things live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Recap on-site outcomes; point to where financing and efficiency assumptions live in the repository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3. Why financing design matters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Three reasons financing design is a first-order determinant of transition speed and cost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4. The six-scenario finance matrix, in full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Balanced, market-led, and public-led financing structures (Group 1 = A, Group 2 = B, Group 3 = C) x PDP8/NZ pathway, mechanism by mechanism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5. Draft finance-scenario metadata sheet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Each of the 3 groups documents its assigned financing structure (both pathway variants) in full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— Break —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6. The energy-efficiency scenario, in full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Narrative and core channels, then the three-family EE matrix (Group 1 = EE_PDP8, Group 2 = Directive10, Group 3 = PV/BESS) x Full/NoBESS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7. Draft efficiency-scenario metadata sheet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Each of the 3 groups documents its assigned EE family (both BESS variants) using the same rigor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8. Wrap and preview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Confirm both metadata sheets recorded; preview tomorrow's hands-on run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 · 10 MIN · [INTERACTIVE]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Setup Check-In — VS Code, GitHub, AI Coding Assistant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Quick poll — show of hands for each: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VS Code installed and opens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GitHub account exists (GitHub Desktop installed too, if you got to it)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An AI coding assistant is enabled in VS Code — Claude Code, GitHub Copilot, or another LLM coding assistant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Not ready yet? Pair with a neighbor who is, grab the quick-install links, and flag the facilitator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We fix gaps in the first break, not live in front of the group — full Git/GitHub Desktop/VS Code instruction is still tomorrow morning, from scratch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 · HANDOUT / REFERENCE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Setup Quick Reference (Full Steps: setup-guide.md)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•  VS Code: download from </a:t>
            </a:r>
            <a:r>
              <a:rPr sz="1700" b="0" u="sng">
                <a:solidFill>
                  <a:srgbClr val="0563C1"/>
                </a:solidFill>
                <a:latin typeface="Calibri"/>
                <a:hlinkClick r:id="rId3"/>
              </a:rPr>
              <a:t>code.visualstudio.com</a:t>
            </a:r>
            <a:r>
              <a:rPr sz="1700" b="0">
                <a:solidFill>
                  <a:srgbClr val="232323"/>
                </a:solidFill>
                <a:latin typeface="Calibri"/>
              </a:rPr>
              <a:t>, open once to confirm it launches</a:t>
            </a:r>
          </a:p>
          <a:p>
            <a:pPr marL="0" indent="0">
              <a:spcAft>
                <a:spcPts val="10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•  GitHub: create a free account at </a:t>
            </a:r>
            <a:r>
              <a:rPr sz="1700" b="0" u="sng">
                <a:solidFill>
                  <a:srgbClr val="0563C1"/>
                </a:solidFill>
                <a:latin typeface="Calibri"/>
                <a:hlinkClick r:id="rId4"/>
              </a:rPr>
              <a:t>github.com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AI coding assistant — pick one: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GitHub Copilot: Extensions view (Ctrl/Cmd+Shift+X) → search "GitHub Copilot" → install → sign in with GitHub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Claude Code: install Node.js, then run npm install -g @anthropic-ai/claude-code, then run claude in VS Code's terminal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Or another LLM coding assistant you're already comfortable with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MATLAB: should already be installed from on-site training — open it directly and confirm it runs a command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Optional: add the "MATLAB" extension (by MathWorks) in VS Code for .m file syntax highlighting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2 · 10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This course continues directly from your on-site training (Training Days 1–2, and Day 3 if already completed)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Today and tomorrow go deep on two scenario families: finance and energy efficiency — fully defined today, run and interpreted tomorrow morning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Where the assumptions live: docs/financing_pathway.md, docs/energy_efficiency_pathway.md, </a:t>
            </a:r>
            <a:r>
              <a:rPr sz="1700" b="0" i="0" dirty="0" err="1">
                <a:solidFill>
                  <a:srgbClr val="232323"/>
                </a:solidFill>
                <a:latin typeface="Calibri"/>
              </a:rPr>
              <a:t>ExcelFiles</a:t>
            </a:r>
            <a:r>
              <a:rPr sz="1700" b="0" i="0" dirty="0">
                <a:solidFill>
                  <a:srgbClr val="232323"/>
                </a:solidFill>
                <a:latin typeface="Calibri"/>
              </a:rPr>
              <a:t>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3 · 15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Why Financing Design Matters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Affordability of public investment — shifting capital toward the cheaper government-sourced channel cuts r_G from 7.37% (market-led) to 5.07% (public-led), saving an estimated USD 1–3bn/year in financing costs on Vietnam's ~USD 136bn PDP8 energy investment need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Investment crowd-in — the model shocks capital-source rates directly: r_G and r_FDI in the renewable sector, each paired with a target capital share (K_G share, K_FDI share) — not fiscal transfers. A cheaper, larger-share public/FDI channel lowers the effective cost of new renewable capacity and crowds in more of it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Financing value scales with ambition — the same r_G / r_FDI cut delivers a larger GDP dividend under Net-Zero than under PDP8, because NZ requires faster, more front-loaded capital 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4 · 35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The Six-Scenario Finance Matrix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2737171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1573726024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Scenario ID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Emissions pathway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Financing structure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r_G / r_FDI (%)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K_G / K_FDI share (%)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Group 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PDP8_GF_A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PDP8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Balanced (ODA/MDB + green bonds)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6.43 / 6.36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19.0 / 14.0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Group 1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NZ_GF_A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Net-Zero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Balanced (ODA/MDB + green bonds)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6.43 / 6.36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19.0 / 14.0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Group 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PDP8_GF_B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PDP8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Market-led (commercial/private)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7.37 / 6.90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9.6 / 12.4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Group 2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NZ_GF_B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Net-Zero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Market-led (commercial/private)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7.37 / 6.90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9.6 / 12.4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Group 3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PDP8_GF_C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PDP8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Public-led (ODA/concessional)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5.07 / 6.00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36.5 / 19.0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Group 3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NZ_GF_C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Net-Zero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Public-led (ODA/concessional)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5.07 / 6.00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36.5 / 19.0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870448"/>
            <a:ext cx="11185855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0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/>
            <a:r>
              <a:rPr sz="1300" b="0" i="1">
                <a:solidFill>
                  <a:srgbClr val="232323"/>
                </a:solidFill>
                <a:latin typeface="Calibri"/>
              </a:rPr>
              <a:t>r_G/r_FDI = sector-3 financing rate by capital source; K_G/K_FDI share = target share of sector-3 capital financed via each. Compare only within the SAME emissions pathway.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5 · 25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Draft Your Finance-Scenario Metadata Sheet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Your group is assigned one of the three financing structures — Group 1 = A (Balanced), Group 2 = B (Market-led), Group 3 = C (Public-led) — cover both the PDP8 and Net-Zero pathway variants for your structure</a:t>
            </a:r>
            <a:endParaRPr lang="en-US" sz="1700" b="0" i="0" dirty="0">
              <a:solidFill>
                <a:srgbClr val="232323"/>
              </a:solidFill>
              <a:latin typeface="Calibri"/>
            </a:endParaRPr>
          </a:p>
          <a:p>
            <a:pPr marL="0" indent="0" algn="just">
              <a:spcAft>
                <a:spcPts val="1000"/>
              </a:spcAft>
            </a:pPr>
            <a:endParaRPr sz="1700" b="0" i="0" dirty="0">
              <a:solidFill>
                <a:srgbClr val="232323"/>
              </a:solidFill>
              <a:latin typeface="Calibri"/>
            </a:endParaRPr>
          </a:p>
          <a:p>
            <a:pPr marL="0" indent="0" algn="just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Document in full: label, mechanism, exact file edits, exact variables changed, time path, start/end year, transition profile</a:t>
            </a:r>
            <a:r>
              <a:rPr sz="1700" b="0" i="0">
                <a:solidFill>
                  <a:srgbClr val="232323"/>
                </a:solidFill>
                <a:latin typeface="Calibri"/>
              </a:rPr>
              <a:t>,</a:t>
            </a:r>
            <a:r>
              <a:rPr lang="en-US" sz="1700" b="0" i="0">
                <a:solidFill>
                  <a:srgbClr val="232323"/>
                </a:solidFill>
                <a:latin typeface="Calibri"/>
              </a:rPr>
              <a:t> </a:t>
            </a:r>
            <a:r>
              <a:rPr sz="1700" b="0" i="0">
                <a:solidFill>
                  <a:srgbClr val="232323"/>
                </a:solidFill>
                <a:latin typeface="Calibri"/>
              </a:rPr>
              <a:t>expected </a:t>
            </a:r>
            <a:r>
              <a:rPr sz="1700" b="0" i="0" dirty="0">
                <a:solidFill>
                  <a:srgbClr val="232323"/>
                </a:solidFill>
                <a:latin typeface="Calibri"/>
              </a:rPr>
              <a:t>effects, key output indicators, caveats, owner, date</a:t>
            </a:r>
            <a:endParaRPr lang="en-US" sz="1700" b="0" i="0" dirty="0">
              <a:solidFill>
                <a:srgbClr val="232323"/>
              </a:solidFill>
              <a:latin typeface="Calibri"/>
            </a:endParaRPr>
          </a:p>
          <a:p>
            <a:pPr marL="0" indent="0" algn="just">
              <a:spcAft>
                <a:spcPts val="1000"/>
              </a:spcAft>
            </a:pPr>
            <a:endParaRPr sz="1700" b="0" i="0" dirty="0">
              <a:solidFill>
                <a:srgbClr val="232323"/>
              </a:solidFill>
              <a:latin typeface="Calibri"/>
            </a:endParaRPr>
          </a:p>
          <a:p>
            <a:pPr marL="0" indent="0" algn="just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Also state: which of the other two financing structures (A/B/C, same emissions pathway) you compare against, and what differs — r_G, r_FDI, K_G share, K_FDI share</a:t>
            </a:r>
            <a:endParaRPr lang="en-US" sz="1700" b="0" i="0" dirty="0">
              <a:solidFill>
                <a:srgbClr val="232323"/>
              </a:solidFill>
              <a:latin typeface="Calibri"/>
            </a:endParaRPr>
          </a:p>
          <a:p>
            <a:pPr marL="0" indent="0" algn="just">
              <a:spcAft>
                <a:spcPts val="1000"/>
              </a:spcAft>
            </a:pPr>
            <a:endParaRPr sz="1700" b="0" i="0" dirty="0">
              <a:solidFill>
                <a:srgbClr val="232323"/>
              </a:solidFill>
              <a:latin typeface="Calibri"/>
            </a:endParaRPr>
          </a:p>
          <a:p>
            <a:pPr marL="0" indent="0" algn="just">
              <a:spcAft>
                <a:spcPts val="1000"/>
              </a:spcAft>
            </a:pPr>
            <a:r>
              <a:rPr sz="1700" b="1" i="0" dirty="0">
                <a:solidFill>
                  <a:srgbClr val="232323"/>
                </a:solidFill>
                <a:latin typeface="Calibri"/>
              </a:rPr>
              <a:t>•  Record your sheet in the finance scenario log before the break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SHORT BREAK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15 minutes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Next: the energy-efficiency scenario, in the same depth as the finance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6 · 35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The Energy-Efficiency Scenario, in Full Detail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Narrative: efficiency gains in industry and services (EE_PDP8 / EE_Directive10), plus rooftop solar (RTS) capacity and battery storage (BESS) integration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Core channels: energy-productivity shock (exo_AI) lowers energy intensity in industry &amp; services; adaptation-capital cost channel (exo_GA) captures upfront EE/RTS/BESS investment; household RTS displaces purchased grid electricity directly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2030 savings potential: ≈7.4% industry, ≈5.1% services, ≈11.6% households (rooftop PV, via the capital channel)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Quantified investment need: ≈USD 361 million/year (≈0.076% of GDP)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Rebound effect: higher efficiency raises productivity and GDP, and the resulting extra activity partly offsets direct energy savings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Compared against the Baseline (PDP8 plan, no carbon cap) and against each other — Full vs NoBESS (e.g. EE_Directive10 vs EE_Directive10_NoBESS) isolates the BESS contribution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6 · 35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The Six-Scenario EE Matrix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72606054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1573726024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Scenario ID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BESS variant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EE / RTS package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exo_AI ind / serv (2030)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exo_PVEff / GA_3 (2030)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Group 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EE_PDP8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PDP8 reference (moderate EE)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0.143 / 0.195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0.000 / 0.000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Group 1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EE_PDP8_NoBESS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NoBESS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PDP8 reference (moderate EE)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0.143 / 0.195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0.000 / 0.000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Group 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EE_Directive10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Directive 10 (high EE + RTS)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0.190 / 0.227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0.030 / 0.009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Group 2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EE_Directive10_NoBESS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NoBESS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Directive 10 (high EE + RTS)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0.190 / 0.227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0.000 / 0.000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Group 3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EE_PDP8_PV_BESS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PDP8 + accelerated PV/BESS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0.166 / 0.211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0.049 / 0.014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Group 3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EE_PDP8_PV_BESS_NoBESS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NoBESS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PDP8 + accelerated PV/BESS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0.166 / 0.211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0.000 / 0.000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870448"/>
            <a:ext cx="11185855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0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/>
            <a:r>
              <a:rPr sz="1300" b="0" i="1">
                <a:solidFill>
                  <a:srgbClr val="232323"/>
                </a:solidFill>
                <a:latin typeface="Calibri"/>
              </a:rPr>
              <a:t>exo_AI = industry/services productivity index (EE + rooftop-PV demand reduction). EE_PDP8's BESS channel is zero throughout, so Full = NoBESS there. Compare Full vs NoBESS only within the SAME group.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7 · 30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Draft Your Energy-Efficiency Scenario Metadata Sheet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Your group is assigned one of the three EE scenario families — Group 1 = EE_PDP8, Group 2 = EE_Directive10, Group 3 = EE_PDP8_PV_BESS — cover both the Full and NoBESS variant for your family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Same rigor as the finance sheet: mechanism, sector-specific assumptions (with source), affected sectors, time path, expected effects — including the rebound effect — key output indicators, caveats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Affected sectors: manufacturing, services/commercial, households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Cite every numeric value; mark anything not in energy_efficiency_pathway.md as [SME REVIEW NEEDED]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Record your sheet in the energy-efficiency scenario log before the session ends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WRAP-UP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Debrief &amp; Common Errors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Debrief: for your finance scenario, what's the one variable that changes vs. its base </a:t>
            </a:r>
            <a:r>
              <a:rPr sz="1700" b="0" i="0">
                <a:solidFill>
                  <a:srgbClr val="232323"/>
                </a:solidFill>
                <a:latin typeface="Calibri"/>
              </a:rPr>
              <a:t>case?</a:t>
            </a:r>
            <a:endParaRPr lang="en-US" sz="1700" b="0" i="0">
              <a:solidFill>
                <a:srgbClr val="232323"/>
              </a:solidFill>
              <a:latin typeface="Calibri"/>
            </a:endParaRPr>
          </a:p>
          <a:p>
            <a:pPr marL="0" indent="0">
              <a:spcAft>
                <a:spcPts val="1000"/>
              </a:spcAft>
            </a:pPr>
            <a:endParaRPr sz="1700" b="0" i="0" dirty="0">
              <a:solidFill>
                <a:srgbClr val="232323"/>
              </a:solidFill>
              <a:latin typeface="Calibri"/>
            </a:endParaRP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Debrief: what does the rebound effect do to the efficiency scenario's net savings?</a:t>
            </a:r>
            <a:endParaRPr lang="en-US" sz="1700" b="0" i="0" dirty="0">
              <a:solidFill>
                <a:srgbClr val="232323"/>
              </a:solidFill>
              <a:latin typeface="Calibri"/>
            </a:endParaRPr>
          </a:p>
          <a:p>
            <a:pPr marL="0" indent="0">
              <a:spcAft>
                <a:spcPts val="1000"/>
              </a:spcAft>
            </a:pPr>
            <a:endParaRPr sz="1700" b="0" i="0" dirty="0">
              <a:solidFill>
                <a:srgbClr val="232323"/>
              </a:solidFill>
              <a:latin typeface="Calibri"/>
            </a:endParaRP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Watch out for: confusing the calibrated Baseline with PDP8_GF_B — GF_B is still a financing shock (market-led: </a:t>
            </a:r>
            <a:r>
              <a:rPr sz="1700" b="0" i="0" dirty="0" err="1">
                <a:solidFill>
                  <a:srgbClr val="232323"/>
                </a:solidFill>
                <a:latin typeface="Calibri"/>
              </a:rPr>
              <a:t>r_G</a:t>
            </a:r>
            <a:r>
              <a:rPr sz="1700" b="0" i="0" dirty="0">
                <a:solidFill>
                  <a:srgbClr val="232323"/>
                </a:solidFill>
                <a:latin typeface="Calibri"/>
              </a:rPr>
              <a:t> 7.37%, </a:t>
            </a:r>
            <a:r>
              <a:rPr sz="1700" b="0" i="0" dirty="0" err="1">
                <a:solidFill>
                  <a:srgbClr val="232323"/>
                </a:solidFill>
                <a:latin typeface="Calibri"/>
              </a:rPr>
              <a:t>r_FDI</a:t>
            </a:r>
            <a:r>
              <a:rPr sz="1700" b="0" i="0" dirty="0">
                <a:solidFill>
                  <a:srgbClr val="232323"/>
                </a:solidFill>
                <a:latin typeface="Calibri"/>
              </a:rPr>
              <a:t> 6.90%), just the closest to current practice</a:t>
            </a:r>
            <a:endParaRPr lang="en-US" sz="1700" b="0" i="0" dirty="0">
              <a:solidFill>
                <a:srgbClr val="232323"/>
              </a:solidFill>
              <a:latin typeface="Calibri"/>
            </a:endParaRPr>
          </a:p>
          <a:p>
            <a:pPr marL="0" indent="0">
              <a:spcAft>
                <a:spcPts val="1000"/>
              </a:spcAft>
            </a:pPr>
            <a:endParaRPr sz="1700" b="0" i="0" dirty="0">
              <a:solidFill>
                <a:srgbClr val="232323"/>
              </a:solidFill>
              <a:latin typeface="Calibri"/>
            </a:endParaRP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Watch out for: comparing across emissions pathways by mistake — same-pathway comparison only</a:t>
            </a:r>
            <a:endParaRPr lang="en-US" sz="1700" b="0" i="0" dirty="0">
              <a:solidFill>
                <a:srgbClr val="232323"/>
              </a:solidFill>
              <a:latin typeface="Calibri"/>
            </a:endParaRPr>
          </a:p>
          <a:p>
            <a:pPr marL="0" indent="0">
              <a:spcAft>
                <a:spcPts val="1000"/>
              </a:spcAft>
            </a:pPr>
            <a:endParaRPr sz="1700" b="0" i="0" dirty="0">
              <a:solidFill>
                <a:srgbClr val="232323"/>
              </a:solidFill>
              <a:latin typeface="Calibri"/>
            </a:endParaRP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Watch out for: leaving the rebound effect out of the efficiency scenario's expected-effects field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Watch out for: expecting a difference between EE_PDP8 and EE_PDP8_NoBESS — that BESS channel is zero throughout, so the two are numerically identical (the real BESS effect shows up in Group 2/3)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8 · 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Today's Output &amp; What's Next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You leave today with: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A completed finance-scenario metadata sheet for your assigned scenario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A completed energy-efficiency scenario metadata sheet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Tomorrow morning: codebase navigation, Git/GitHub Desktop, baseline calibration, and running both scenarios hands-on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2085</Words>
  <Application>Microsoft Office PowerPoint</Application>
  <PresentationFormat>Widescreen</PresentationFormat>
  <Paragraphs>222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Schult, Christoph</cp:lastModifiedBy>
  <cp:revision>4</cp:revision>
  <dcterms:created xsi:type="dcterms:W3CDTF">2013-01-27T09:14:16Z</dcterms:created>
  <dcterms:modified xsi:type="dcterms:W3CDTF">2026-07-15T21:05:32Z</dcterms:modified>
  <cp:category/>
</cp:coreProperties>
</file>