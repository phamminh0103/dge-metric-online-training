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2054087" cy="566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28600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4000" b="1" i="0">
                <a:solidFill>
                  <a:srgbClr val="232323"/>
                </a:solidFill>
                <a:latin typeface="Calibri"/>
              </a:rPr>
              <a:t>DGE-METRIC Online Training</a:t>
            </a:r>
          </a:p>
          <a:p>
            <a:r>
              <a:rPr sz="2200" b="0" i="0">
                <a:solidFill>
                  <a:srgbClr val="CC071E"/>
                </a:solidFill>
                <a:latin typeface="Calibri"/>
              </a:rPr>
              <a:t>Online Day 3 — Guided Open Lab, then Calibration Internals: Modification &amp; Sensitivity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4709160"/>
            <a:ext cx="3840480" cy="3810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89204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 i="0">
                <a:solidFill>
                  <a:srgbClr val="787878"/>
                </a:solidFill>
                <a:latin typeface="Calibri"/>
              </a:rPr>
              <a:t>Friday 24 July 2026 · Morning + Afternoon · 2 × 180 minutes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787878"/>
                </a:solidFill>
                <a:latin typeface="Calibri"/>
              </a:rPr>
              <a:t>GIZ Vietnam | DGE-METRIC Program | Online Module</a:t>
            </a:r>
          </a:p>
          <a:p>
            <a:pPr>
              <a:spcAft>
                <a:spcPts val="400"/>
              </a:spcAft>
            </a:pPr>
            <a:r>
              <a:rPr sz="1500" b="0" i="0">
                <a:solidFill>
                  <a:srgbClr val="787878"/>
                </a:solidFill>
                <a:latin typeface="Calibri"/>
              </a:rPr>
              <a:t>This is Training Day 5, delivered online — the final day of the course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457200"/>
            <a:ext cx="1656522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65176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FFD2D2"/>
                </a:solidFill>
                <a:latin typeface="Calibri"/>
              </a:rPr>
              <a:t>ONLINE DAY 3 — MORNING</a:t>
            </a:r>
          </a:p>
          <a:p>
            <a:r>
              <a:rPr sz="3400" b="1" i="0">
                <a:solidFill>
                  <a:srgbClr val="FFFFFF"/>
                </a:solidFill>
                <a:latin typeface="Calibri"/>
              </a:rPr>
              <a:t>Guided Open Lab</a:t>
            </a:r>
          </a:p>
          <a:p>
            <a:pPr>
              <a:spcBef>
                <a:spcPts val="1400"/>
              </a:spcBef>
            </a:pPr>
            <a:r>
              <a:rPr sz="1700" b="0" i="0">
                <a:solidFill>
                  <a:srgbClr val="FFFFFF"/>
                </a:solidFill>
                <a:latin typeface="Calibri"/>
              </a:rPr>
              <a:t>Applying the reserve-requirement method · 180 minutes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This Morning's Agenda — 5 Blocks, 180 Minutes (+1 break)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3 — Fri 24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554480"/>
          <a:ext cx="11185853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38850"/>
                <a:gridCol w="941966"/>
                <a:gridCol w="6005037"/>
              </a:tblGrid>
              <a:tr h="81534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Block</a:t>
                      </a:r>
                    </a:p>
                  </a:txBody>
                  <a:tcPr anchor="ctr" marT="50800" marB="50800">
                    <a:solidFill>
                      <a:srgbClr val="CC0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Min</a:t>
                      </a:r>
                    </a:p>
                  </a:txBody>
                  <a:tcPr anchor="ctr" marT="50800" marB="50800">
                    <a:solidFill>
                      <a:srgbClr val="CC0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What happens</a:t>
                      </a:r>
                    </a:p>
                  </a:txBody>
                  <a:tcPr anchor="ctr" marT="50800" marB="50800">
                    <a:solidFill>
                      <a:srgbClr val="CC071E"/>
                    </a:solidFill>
                  </a:tcPr>
                </a:tc>
              </a:tr>
              <a:tr h="81534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1. Recap method and implementation plan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Recap yesterday's MC = MB logic and your implementation plan; confirm chosen carrier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81534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2. Guided open lab, part 1</a:t>
                      </a:r>
                    </a:p>
                  </a:txBody>
                  <a:tcPr anchor="ctr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 anchor="ctr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Work the break-even and validation logic by hand for your chosen carrier</a:t>
                      </a:r>
                    </a:p>
                  </a:txBody>
                  <a:tcPr anchor="ctr" marT="38100" marB="38100">
                    <a:solidFill>
                      <a:srgbClr val="F5F5F5"/>
                    </a:solidFill>
                  </a:tcPr>
                </a:tc>
              </a:tr>
              <a:tr h="81534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— Break 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81534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3. Guided open lab, part 2 — write it up</a:t>
                      </a:r>
                    </a:p>
                  </a:txBody>
                  <a:tcPr anchor="ctr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anchor="ctr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Finish your reserve-requirement analysis note: inputs, walkthrough, sensitivity, open items</a:t>
                      </a:r>
                    </a:p>
                  </a:txBody>
                  <a:tcPr anchor="ctr" marT="38100" marB="38100">
                    <a:solidFill>
                      <a:srgbClr val="F5F5F5"/>
                    </a:solidFill>
                  </a:tcPr>
                </a:tc>
              </a:tr>
              <a:tr h="81534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4. Report-out and debrief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Fast report-out across groups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1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Before We Start: Restate the Scope Note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3 — Fri 24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554480"/>
            <a:ext cx="11185855" cy="1051560"/>
          </a:xfrm>
          <a:prstGeom prst="roundRect">
            <a:avLst/>
          </a:prstGeom>
          <a:solidFill>
            <a:srgbClr val="FFF4E5"/>
          </a:solidFill>
          <a:ln w="19050">
            <a:solidFill>
              <a:srgbClr val="B2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900" b="1" i="1">
                <a:solidFill>
                  <a:srgbClr val="B26A00"/>
                </a:solidFill>
                <a:latin typeface="Calibri"/>
              </a:rPr>
              <a:t>Today's numbers come from a separate illustrative toy model, not from DGE-METRIC.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88920"/>
            <a:ext cx="1118585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DGE-METRIC's own reserve-requirement analysis has not yet been built — no new conceptual content today, this is guided practice</a:t>
            </a:r>
          </a:p>
          <a:p>
            <a:pPr marL="0" indent="0">
              <a:spcAft>
                <a:spcPts val="1000"/>
              </a:spcAft>
            </a:pPr>
            <a:r>
              <a:rPr sz="1700" b="1" i="0">
                <a:solidFill>
                  <a:srgbClr val="232323"/>
                </a:solidFill>
                <a:latin typeface="Calibri"/>
              </a:rPr>
              <a:t>•  If asked for "the" optimal reserve number for Vietnam: restate this caveat rather than answering with a toy-model figure as if it were final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1 · 15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Recap: Method and Implementation Plan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3 — Fri 24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18585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Yesterday afternoon: the three-step MC = MB methodology (screen → validate → optimize) using illustrative Toy Model SOE MC numbers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Baseline GDP (2024) USD 430,000m; crisis probability p = 0.04/yr; break-even divisor USD 172.0m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Your group's implementation plan: chosen carrier, mechanism, DGE-METRIC outputs needed, codebase location</a:t>
            </a:r>
          </a:p>
          <a:p>
            <a:pPr marL="0" indent="0">
              <a:spcAft>
                <a:spcPts val="1000"/>
              </a:spcAft>
            </a:pPr>
            <a:r>
              <a:rPr sz="1700" b="1" i="0">
                <a:solidFill>
                  <a:srgbClr val="232323"/>
                </a:solidFill>
                <a:latin typeface="Calibri"/>
              </a:rPr>
              <a:t>•  Today: no new concepts — apply this by hand, in full, for your carrier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2 · 90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Guided Open Lab — Work the Logic by Hand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3 — Fri 24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18585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Confirm: Break-even GDP loss % ≈ Annual cost ÷ 172.0 for your carrier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Confirm the Step-2 verdict (justified / marginal / not justified) at 20% and 50% shock sizes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If you have a Day 2 AM efficiency-scenario comparison: would it increase or decrease exposure to disruption in your carrier?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List two DGE-METRIC outputs that would be needed to redo Steps 1–2 properly, once a reserve module exists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Sensitivity: roughly how much larger would crisis probability or shock size need to be for the verdict to flip?</a:t>
            </a:r>
          </a:p>
          <a:p>
            <a:pPr marL="0" indent="0">
              <a:spcAft>
                <a:spcPts val="1000"/>
              </a:spcAft>
            </a:pPr>
            <a:r>
              <a:rPr sz="1700" b="1" i="0">
                <a:solidFill>
                  <a:srgbClr val="232323"/>
                </a:solidFill>
                <a:latin typeface="Calibri"/>
              </a:rPr>
              <a:t>•  Facilitator circulates rather than presenting one worked example — multiple carriers are in play at once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457200"/>
            <a:ext cx="1656522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65176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FFD2D2"/>
                </a:solidFill>
                <a:latin typeface="Calibri"/>
              </a:rPr>
              <a:t>SHORT BREAK</a:t>
            </a:r>
          </a:p>
          <a:p>
            <a:r>
              <a:rPr sz="3400" b="1" i="0">
                <a:solidFill>
                  <a:srgbClr val="FFFFFF"/>
                </a:solidFill>
                <a:latin typeface="Calibri"/>
              </a:rPr>
              <a:t>15 minutes</a:t>
            </a:r>
          </a:p>
          <a:p>
            <a:pPr>
              <a:spcBef>
                <a:spcPts val="1400"/>
              </a:spcBef>
            </a:pPr>
            <a:r>
              <a:rPr sz="1700" b="0" i="0">
                <a:solidFill>
                  <a:srgbClr val="FFFFFF"/>
                </a:solidFill>
                <a:latin typeface="Calibri"/>
              </a:rPr>
              <a:t>Next: write up the full analysis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3 · 45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Write Up Your Reserve-Requirement Analysis Note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3 — Fri 24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18585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Combine: yesterday's implementation plan (mechanism, DGE-METRIC outputs, codebase location) + today's completed MC = MB walkthrough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Add: an explicit list of what is still [SME REVIEW NEEDED] before this could inform an actual decision</a:t>
            </a:r>
          </a:p>
          <a:p>
            <a:pPr marL="0" indent="0">
              <a:spcAft>
                <a:spcPts val="1000"/>
              </a:spcAft>
            </a:pPr>
            <a:r>
              <a:rPr sz="1700" b="1" i="0">
                <a:solidFill>
                  <a:srgbClr val="232323"/>
                </a:solidFill>
                <a:latin typeface="Calibri"/>
              </a:rPr>
              <a:t>•  Every specific number must be labeled as an illustrative Toy Model SOE MC proxy result, not a DGE-METRIC output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4 · 15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This Morning's Output &amp; Debrief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3 — Fri 24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18585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You leave with: one completed reserve-requirement analysis note per group, for your chosen carrier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Debrief: in your own words, what does MC = MB mean for a strategic reserve, using your carrier as an example?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Debrief: why does the source material insist on calling the Step 2 "not justified" results illustrative rather than final?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457200"/>
            <a:ext cx="1656522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65176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FFD2D2"/>
                </a:solidFill>
                <a:latin typeface="Calibri"/>
              </a:rPr>
              <a:t>ONLINE DAY 3 — AFTERNOON</a:t>
            </a:r>
          </a:p>
          <a:p>
            <a:r>
              <a:rPr sz="3400" b="1" i="0">
                <a:solidFill>
                  <a:srgbClr val="FFFFFF"/>
                </a:solidFill>
                <a:latin typeface="Calibri"/>
              </a:rPr>
              <a:t>Calibration Internals</a:t>
            </a:r>
          </a:p>
          <a:p>
            <a:pPr>
              <a:spcBef>
                <a:spcPts val="1400"/>
              </a:spcBef>
            </a:pPr>
            <a:r>
              <a:rPr sz="1700" b="0" i="0">
                <a:solidFill>
                  <a:srgbClr val="FFFFFF"/>
                </a:solidFill>
                <a:latin typeface="Calibri"/>
              </a:rPr>
              <a:t>Modification &amp; sensitivity analysis, + course close · 180 minutes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This Afternoon's Agenda — 7 Blocks, 180 Minutes (+1 break)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3 — Fri 24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554480"/>
          <a:ext cx="11185853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3358"/>
                <a:gridCol w="941966"/>
                <a:gridCol w="6240529"/>
              </a:tblGrid>
              <a:tr h="5435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Block</a:t>
                      </a:r>
                    </a:p>
                  </a:txBody>
                  <a:tcPr anchor="ctr" marT="50800" marB="50800">
                    <a:solidFill>
                      <a:srgbClr val="CC0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Min</a:t>
                      </a:r>
                    </a:p>
                  </a:txBody>
                  <a:tcPr anchor="ctr" marT="50800" marB="50800">
                    <a:solidFill>
                      <a:srgbClr val="CC0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What happens</a:t>
                      </a:r>
                    </a:p>
                  </a:txBody>
                  <a:tcPr anchor="ctr" marT="50800" marB="50800">
                    <a:solidFill>
                      <a:srgbClr val="CC071E"/>
                    </a:solidFill>
                  </a:tcPr>
                </a:tc>
              </a:tr>
              <a:tr h="5435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1. Recap calibration workflow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Brief course-arc recap; why accounting coherence is the precondition for everything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2. Calibration internals</a:t>
                      </a:r>
                    </a:p>
                  </a:txBody>
                  <a:tcPr anchor="ctr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anchor="ctr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Data inputs vs. structural parameters; workbook structure; the IO calibration pipeline</a:t>
                      </a:r>
                    </a:p>
                  </a:txBody>
                  <a:tcPr anchor="ctr" marT="38100" marB="38100">
                    <a:solidFill>
                      <a:srgbClr val="F5F5F5"/>
                    </a:solidFill>
                  </a:tcPr>
                </a:tc>
              </a:tr>
              <a:tr h="5435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3. How to modify calibration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Data-input change (ExcelFiles/) vs. structural-parameter change (Functions/); re-validate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— Break —</a:t>
                      </a:r>
                    </a:p>
                  </a:txBody>
                  <a:tcPr anchor="ctr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T="38100" marB="38100">
                    <a:solidFill>
                      <a:srgbClr val="F5F5F5"/>
                    </a:solidFill>
                  </a:tcPr>
                </a:tc>
              </a:tr>
              <a:tr h="5435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4. Sensitivity analysis method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One-at-a-time parameter perturbation; why isolating one parameter matters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5. Draft sensitivity-analysis plan</a:t>
                      </a:r>
                    </a:p>
                  </a:txBody>
                  <a:tcPr anchor="ctr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anchor="ctr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Groups pick one structural parameter and draft a plan</a:t>
                      </a:r>
                    </a:p>
                  </a:txBody>
                  <a:tcPr anchor="ctr" marT="38100" marB="38100">
                    <a:solidFill>
                      <a:srgbClr val="F5F5F5"/>
                    </a:solidFill>
                  </a:tcPr>
                </a:tc>
              </a:tr>
              <a:tr h="5435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6. Report-out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Fast report-out across groups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7. Course close</a:t>
                      </a:r>
                    </a:p>
                  </a:txBody>
                  <a:tcPr anchor="ctr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anchor="ctr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Independent-use checklist; exit ticket</a:t>
                      </a:r>
                    </a:p>
                  </a:txBody>
                  <a:tcPr anchor="ctr" marT="38100" marB="3810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1 · 10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The Course Arc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3 — Fri 24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554480"/>
          <a:ext cx="11185854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5978"/>
                <a:gridCol w="4283944"/>
                <a:gridCol w="5235932"/>
              </a:tblGrid>
              <a:tr h="877824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Day</a:t>
                      </a:r>
                    </a:p>
                  </a:txBody>
                  <a:tcPr anchor="ctr" marT="50800" marB="50800">
                    <a:solidFill>
                      <a:srgbClr val="CC0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Focus</a:t>
                      </a:r>
                    </a:p>
                  </a:txBody>
                  <a:tcPr anchor="ctr" marT="50800" marB="50800">
                    <a:solidFill>
                      <a:srgbClr val="CC07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What it produced</a:t>
                      </a:r>
                    </a:p>
                  </a:txBody>
                  <a:tcPr anchor="ctr" marT="50800" marB="50800">
                    <a:solidFill>
                      <a:srgbClr val="CC071E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Day 1 PM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Finance &amp; efficiency scenario definition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Two completed scenario metadata sheets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Day 2 AM</a:t>
                      </a:r>
                    </a:p>
                  </a:txBody>
                  <a:tcPr anchor="ctr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Codebase nav, Git, calibration &amp; scenario hands-on</a:t>
                      </a:r>
                    </a:p>
                  </a:txBody>
                  <a:tcPr anchor="ctr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Calibration diagnostic; finance + efficiency comparison charts</a:t>
                      </a:r>
                    </a:p>
                  </a:txBody>
                  <a:tcPr anchor="ctr" marT="38100" marB="38100">
                    <a:solidFill>
                      <a:srgbClr val="F5F5F5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Day 2 PM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Reserve requirements — method &amp; implementation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Implementation plan for a self-chosen carrier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32323"/>
                          </a:solidFill>
                          <a:latin typeface="Calibri"/>
                        </a:rPr>
                        <a:t>Day 3 AM</a:t>
                      </a:r>
                    </a:p>
                  </a:txBody>
                  <a:tcPr anchor="ctr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Guided open lab</a:t>
                      </a:r>
                    </a:p>
                  </a:txBody>
                  <a:tcPr anchor="ctr" marT="38100" marB="38100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32323"/>
                          </a:solidFill>
                          <a:latin typeface="Calibri"/>
                        </a:rPr>
                        <a:t>Completed reserve-requirement analysis note</a:t>
                      </a:r>
                    </a:p>
                  </a:txBody>
                  <a:tcPr anchor="ctr" marT="38100" marB="3810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5943600"/>
            <a:ext cx="11185855" cy="566928"/>
          </a:xfrm>
          <a:prstGeom prst="roundRect">
            <a:avLst/>
          </a:prstGeom>
          <a:solidFill>
            <a:srgbClr val="F5F5F5"/>
          </a:solidFill>
          <a:ln w="12700">
            <a:solidFill>
              <a:srgbClr val="CC07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54864" bIns="54864"/>
          <a:lstStyle/>
          <a:p>
            <a:pPr algn="ctr"/>
            <a:r>
              <a:rPr sz="1300" b="0" i="1">
                <a:solidFill>
                  <a:srgbClr val="232323"/>
                </a:solidFill>
                <a:latin typeface="Calibri"/>
              </a:rPr>
              <a:t>Today closes the loop back to calibration — the foundation everything else this week depended 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2 · 30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Calibration Internals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3 — Fri 24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18585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Data inputs pinning down the steady state: sectoral employment, value-added, labour cost, export, import, emission shares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Structural parameters: discount factor, depreciation, elasticities of substitution, tax rates, adjustment costs</a:t>
            </a:r>
          </a:p>
          <a:p>
            <a:pPr marL="0" indent="0">
              <a:spcAft>
                <a:spcPts val="1000"/>
              </a:spcAft>
            </a:pPr>
            <a:r>
              <a:rPr sz="1700" b="1" i="0">
                <a:solidFill>
                  <a:srgbClr val="232323"/>
                </a:solidFill>
                <a:latin typeface="Calibri"/>
              </a:rPr>
              <a:t>•  Calibration credibility rests on accounting coherence — value-added shares, intermediate-input shares, and import decomposition must sum consistently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The IO calibration pipeline: run_pipeline.m → split_utilities_sector.m → aggregate_for_dge.m, with validation/audit CSV outputs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Quality checks: output conservation, import conservation, value-added consistency, non-negativity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3 · 25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How to Modify Calibration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3 — Fri 24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18585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Changing a data input (e.g. a sectoral value-added share): edit the calibration workbook in ExcelFiles/, then re-run the pipeline and re-check validation/audit outputs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Changing a structural parameter (e.g. an elasticity of substitution): typically set via a Functions/ helper or a named range in the workbook — confirm the exact location before editing</a:t>
            </a:r>
          </a:p>
          <a:p>
            <a:pPr marL="0" indent="0">
              <a:spcAft>
                <a:spcPts val="1000"/>
              </a:spcAft>
            </a:pPr>
            <a:r>
              <a:rPr sz="1700" b="1" i="0">
                <a:solidFill>
                  <a:srgbClr val="232323"/>
                </a:solidFill>
                <a:latin typeface="Calibri"/>
              </a:rPr>
              <a:t>•  Either change requires re-running the full calibration-to-baseline chain and re-validating accounting coherence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457200"/>
            <a:ext cx="1656522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65176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FFD2D2"/>
                </a:solidFill>
                <a:latin typeface="Calibri"/>
              </a:rPr>
              <a:t>SHORT BREAK</a:t>
            </a:r>
          </a:p>
          <a:p>
            <a:r>
              <a:rPr sz="3400" b="1" i="0">
                <a:solidFill>
                  <a:srgbClr val="FFFFFF"/>
                </a:solidFill>
                <a:latin typeface="Calibri"/>
              </a:rPr>
              <a:t>15 minutes</a:t>
            </a:r>
          </a:p>
          <a:p>
            <a:pPr>
              <a:spcBef>
                <a:spcPts val="1400"/>
              </a:spcBef>
            </a:pPr>
            <a:r>
              <a:rPr sz="1700" b="0" i="0">
                <a:solidFill>
                  <a:srgbClr val="FFFFFF"/>
                </a:solidFill>
                <a:latin typeface="Calibri"/>
              </a:rPr>
              <a:t>Next: sensitivity analysis method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4 · 30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Sensitivity Analysis Method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3 — Fri 24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18585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One-at-a-time (OAT) parameter perturbation: pick one structural parameter, perturb it by a defined amount, re-run, compare against the unperturbed baseline</a:t>
            </a:r>
          </a:p>
          <a:p>
            <a:pPr marL="0" indent="0">
              <a:spcAft>
                <a:spcPts val="1000"/>
              </a:spcAft>
            </a:pPr>
            <a:r>
              <a:rPr sz="1700" b="1" i="0">
                <a:solidFill>
                  <a:srgbClr val="232323"/>
                </a:solidFill>
                <a:latin typeface="Calibri"/>
              </a:rPr>
              <a:t>•  Why isolate one parameter at a time: perturbing two at once means you can't attribute the output change to either individually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What to check: the same accounting-coherence diagnostics, plus the output indicators most likely to respond to your chosen parameter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Keep a sensitivity log: parameter, baseline value, perturbed value, diagnostic result, output difference</a:t>
            </a:r>
          </a:p>
          <a:p>
            <a:pPr marL="0" indent="0">
              <a:spcAft>
                <a:spcPts val="1000"/>
              </a:spcAft>
            </a:pPr>
            <a:r>
              <a:rPr sz="1700" b="1" i="0">
                <a:solidFill>
                  <a:srgbClr val="232323"/>
                </a:solidFill>
                <a:latin typeface="Calibri"/>
              </a:rPr>
              <a:t>•  General good-practice methodology — not itself a DGE-METRIC-specific procedure documented in the reviewed sources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BLOCKS 5–6 · 40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Draft Your Sensitivity-Analysis Plan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3 — Fri 24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18585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Pick one structural parameter from docs/calibration.md's list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Document: parameter and baseline value (or [SME REVIEW NEEDED]); the perturbation and why it's reasonable; expected effect with a mechanism, not just "it will change"; accounting-coherence checks you'd re-run</a:t>
            </a:r>
          </a:p>
          <a:p>
            <a:pPr marL="0" indent="0">
              <a:spcAft>
                <a:spcPts val="1000"/>
              </a:spcAft>
            </a:pPr>
            <a:r>
              <a:rPr sz="1700" b="1" i="0">
                <a:solidFill>
                  <a:srgbClr val="232323"/>
                </a:solidFill>
                <a:latin typeface="Calibri"/>
              </a:rPr>
              <a:t>•  Only one parameter perturbed — not a combination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Fast report-out across groups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400"/>
              </a:spcAft>
            </a:pPr>
            <a:r>
              <a:rPr sz="1100" b="1" i="0">
                <a:solidFill>
                  <a:srgbClr val="FFD2D2"/>
                </a:solidFill>
                <a:latin typeface="Calibri"/>
              </a:rPr>
              <a:t>BLOCK 7 · 30 MIN</a:t>
            </a:r>
          </a:p>
          <a:p>
            <a:r>
              <a:rPr sz="2400" b="1" i="0">
                <a:solidFill>
                  <a:srgbClr val="FFFFFF"/>
                </a:solidFill>
                <a:latin typeface="Calibri"/>
              </a:rPr>
              <a:t>Course Close</a:t>
            </a:r>
          </a:p>
        </p:txBody>
      </p:sp>
      <p:pic>
        <p:nvPicPr>
          <p:cNvPr id="5" name="Picture 4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420624"/>
            <a:ext cx="1590261" cy="4389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47104"/>
            <a:ext cx="7315200" cy="27432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000" b="0" i="0">
                <a:solidFill>
                  <a:srgbClr val="787878"/>
                </a:solidFill>
                <a:latin typeface="Calibri"/>
              </a:rPr>
              <a:t>DGE-METRIC Online Training — Online Day 3 — Fri 24 Jul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547104"/>
            <a:ext cx="822960" cy="274320"/>
          </a:xfrm>
          <a:prstGeom prst="rect">
            <a:avLst/>
          </a:prstGeom>
          <a:noFill/>
        </p:spPr>
        <p:txBody>
          <a:bodyPr wrap="none" tIns="0">
            <a:spAutoFit/>
          </a:bodyPr>
          <a:lstStyle/>
          <a:p>
            <a:pPr algn="r"/>
            <a:r>
              <a:rPr sz="1000" b="0" i="0">
                <a:solidFill>
                  <a:srgbClr val="787878"/>
                </a:solidFill>
                <a:latin typeface="Calibr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11185855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Independent-use checklist — a single combined self-assessment covering calibration/codebase, scenario design, reserve requirements, and reproducibility</a:t>
            </a:r>
          </a:p>
          <a:p>
            <a:pPr marL="0" indent="0">
              <a:spcAft>
                <a:spcPts val="1000"/>
              </a:spcAft>
            </a:pPr>
            <a:r>
              <a:rPr sz="1700" b="1" i="0">
                <a:solidFill>
                  <a:srgbClr val="232323"/>
                </a:solidFill>
                <a:latin typeface="Calibri"/>
              </a:rPr>
              <a:t>•  Exit ticket — submit in writing:</a:t>
            </a:r>
          </a:p>
          <a:p>
            <a:pPr marL="320040" indent="0">
              <a:spcAft>
                <a:spcPts val="600"/>
              </a:spcAft>
            </a:pPr>
            <a:r>
              <a:rPr sz="1500" b="0" i="0">
                <a:solidFill>
                  <a:srgbClr val="232323"/>
                </a:solidFill>
                <a:latin typeface="Calibri"/>
              </a:rPr>
              <a:t>–  One calibration insight you'll use going forward</a:t>
            </a:r>
          </a:p>
          <a:p>
            <a:pPr marL="320040" indent="0">
              <a:spcAft>
                <a:spcPts val="600"/>
              </a:spcAft>
            </a:pPr>
            <a:r>
              <a:rPr sz="1500" b="0" i="0">
                <a:solidFill>
                  <a:srgbClr val="232323"/>
                </a:solidFill>
                <a:latin typeface="Calibri"/>
              </a:rPr>
              <a:t>–  One scenario-design practice you'll keep</a:t>
            </a:r>
          </a:p>
          <a:p>
            <a:pPr marL="320040" indent="0">
              <a:spcAft>
                <a:spcPts val="600"/>
              </a:spcAft>
            </a:pPr>
            <a:r>
              <a:rPr sz="1500" b="0" i="0">
                <a:solidFill>
                  <a:srgbClr val="232323"/>
                </a:solidFill>
                <a:latin typeface="Calibri"/>
              </a:rPr>
              <a:t>–  One reserve-requirement or policy-analysis habit you'll apply</a:t>
            </a:r>
          </a:p>
          <a:p>
            <a:pPr marL="320040" indent="0">
              <a:spcAft>
                <a:spcPts val="600"/>
              </a:spcAft>
            </a:pPr>
            <a:r>
              <a:rPr sz="1500" b="0" i="0">
                <a:solidFill>
                  <a:srgbClr val="232323"/>
                </a:solidFill>
                <a:latin typeface="Calibri"/>
              </a:rPr>
              <a:t>–  One remaining question for future support</a:t>
            </a:r>
          </a:p>
          <a:p>
            <a:pPr marL="0" indent="0">
              <a:spcAft>
                <a:spcPts val="1000"/>
              </a:spcAft>
            </a:pPr>
            <a:r>
              <a:rPr sz="1700" b="0" i="0">
                <a:solidFill>
                  <a:srgbClr val="232323"/>
                </a:solidFill>
                <a:latin typeface="Calibri"/>
              </a:rPr>
              <a:t>•  Open institutional/SME questions are tracked in qa/sme-questions.md for asynchronous follow-up, not worked live here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C07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GIZ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575" y="457200"/>
            <a:ext cx="1656522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265176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FFD2D2"/>
                </a:solidFill>
                <a:latin typeface="Calibri"/>
              </a:rPr>
              <a:t>THANK YOU</a:t>
            </a:r>
          </a:p>
          <a:p>
            <a:r>
              <a:rPr sz="3400" b="1" i="0">
                <a:solidFill>
                  <a:srgbClr val="FFFFFF"/>
                </a:solidFill>
                <a:latin typeface="Calibri"/>
              </a:rPr>
              <a:t>Congratulations on completing DGE-METRIC Online Training</a:t>
            </a:r>
          </a:p>
          <a:p>
            <a:pPr>
              <a:spcBef>
                <a:spcPts val="1400"/>
              </a:spcBef>
            </a:pPr>
            <a:r>
              <a:rPr sz="1700" b="0" i="0">
                <a:solidFill>
                  <a:srgbClr val="FFFFFF"/>
                </a:solidFill>
                <a:latin typeface="Calibri"/>
              </a:rPr>
              <a:t>Questions and independent-use support: course contact to be confirmed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